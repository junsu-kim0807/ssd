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5759450" cy="2519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/>
    <p:restoredTop sz="94684"/>
  </p:normalViewPr>
  <p:slideViewPr>
    <p:cSldViewPr snapToGrid="0">
      <p:cViewPr varScale="1">
        <p:scale>
          <a:sx n="332" d="100"/>
          <a:sy n="332" d="100"/>
        </p:scale>
        <p:origin x="184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931" y="412312"/>
            <a:ext cx="4319588" cy="877112"/>
          </a:xfrm>
        </p:spPr>
        <p:txBody>
          <a:bodyPr anchor="b"/>
          <a:lstStyle>
            <a:lvl1pPr algn="ctr">
              <a:defRPr sz="22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31" y="1323249"/>
            <a:ext cx="4319588" cy="608263"/>
          </a:xfrm>
        </p:spPr>
        <p:txBody>
          <a:bodyPr/>
          <a:lstStyle>
            <a:lvl1pPr marL="0" indent="0" algn="ctr">
              <a:buNone/>
              <a:defRPr sz="882"/>
            </a:lvl1pPr>
            <a:lvl2pPr marL="167975" indent="0" algn="ctr">
              <a:buNone/>
              <a:defRPr sz="735"/>
            </a:lvl2pPr>
            <a:lvl3pPr marL="335951" indent="0" algn="ctr">
              <a:buNone/>
              <a:defRPr sz="661"/>
            </a:lvl3pPr>
            <a:lvl4pPr marL="503926" indent="0" algn="ctr">
              <a:buNone/>
              <a:defRPr sz="588"/>
            </a:lvl4pPr>
            <a:lvl5pPr marL="671901" indent="0" algn="ctr">
              <a:buNone/>
              <a:defRPr sz="588"/>
            </a:lvl5pPr>
            <a:lvl6pPr marL="839876" indent="0" algn="ctr">
              <a:buNone/>
              <a:defRPr sz="588"/>
            </a:lvl6pPr>
            <a:lvl7pPr marL="1007852" indent="0" algn="ctr">
              <a:buNone/>
              <a:defRPr sz="588"/>
            </a:lvl7pPr>
            <a:lvl8pPr marL="1175827" indent="0" algn="ctr">
              <a:buNone/>
              <a:defRPr sz="588"/>
            </a:lvl8pPr>
            <a:lvl9pPr marL="1343802" indent="0" algn="ctr">
              <a:buNone/>
              <a:defRPr sz="5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41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02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2" y="628091"/>
            <a:ext cx="4967526" cy="1047985"/>
          </a:xfrm>
        </p:spPr>
        <p:txBody>
          <a:bodyPr anchor="b"/>
          <a:lstStyle>
            <a:lvl1pPr>
              <a:defRPr sz="22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2" y="1685991"/>
            <a:ext cx="4967526" cy="551110"/>
          </a:xfrm>
        </p:spPr>
        <p:txBody>
          <a:bodyPr/>
          <a:lstStyle>
            <a:lvl1pPr marL="0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1pPr>
            <a:lvl2pPr marL="167975" indent="0">
              <a:buNone/>
              <a:defRPr sz="735">
                <a:solidFill>
                  <a:schemeClr val="tx1">
                    <a:tint val="82000"/>
                  </a:schemeClr>
                </a:solidFill>
              </a:defRPr>
            </a:lvl2pPr>
            <a:lvl3pPr marL="335951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3pPr>
            <a:lvl4pPr marL="503926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4pPr>
            <a:lvl5pPr marL="671901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5pPr>
            <a:lvl6pPr marL="839876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6pPr>
            <a:lvl7pPr marL="1007852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7pPr>
            <a:lvl8pPr marL="1175827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8pPr>
            <a:lvl9pPr marL="1343802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71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670664"/>
            <a:ext cx="2447766" cy="1598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670664"/>
            <a:ext cx="2447766" cy="1598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29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134133"/>
            <a:ext cx="4967526" cy="486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617594"/>
            <a:ext cx="2436517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920267"/>
            <a:ext cx="2436517" cy="1353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617594"/>
            <a:ext cx="2448516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920267"/>
            <a:ext cx="2448516" cy="1353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32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13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1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3" y="167958"/>
            <a:ext cx="1857572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362742"/>
            <a:ext cx="2915722" cy="1790381"/>
          </a:xfrm>
        </p:spPr>
        <p:txBody>
          <a:bodyPr/>
          <a:lstStyle>
            <a:lvl1pPr>
              <a:defRPr sz="1176"/>
            </a:lvl1pPr>
            <a:lvl2pPr>
              <a:defRPr sz="1029"/>
            </a:lvl2pPr>
            <a:lvl3pPr>
              <a:defRPr sz="882"/>
            </a:lvl3pPr>
            <a:lvl4pPr>
              <a:defRPr sz="735"/>
            </a:lvl4pPr>
            <a:lvl5pPr>
              <a:defRPr sz="735"/>
            </a:lvl5pPr>
            <a:lvl6pPr>
              <a:defRPr sz="735"/>
            </a:lvl6pPr>
            <a:lvl7pPr>
              <a:defRPr sz="735"/>
            </a:lvl7pPr>
            <a:lvl8pPr>
              <a:defRPr sz="735"/>
            </a:lvl8pPr>
            <a:lvl9pPr>
              <a:defRPr sz="7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3" y="755809"/>
            <a:ext cx="1857572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1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3" y="167958"/>
            <a:ext cx="1857572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362742"/>
            <a:ext cx="2915722" cy="1790381"/>
          </a:xfrm>
        </p:spPr>
        <p:txBody>
          <a:bodyPr anchor="t"/>
          <a:lstStyle>
            <a:lvl1pPr marL="0" indent="0">
              <a:buNone/>
              <a:defRPr sz="1176"/>
            </a:lvl1pPr>
            <a:lvl2pPr marL="167975" indent="0">
              <a:buNone/>
              <a:defRPr sz="1029"/>
            </a:lvl2pPr>
            <a:lvl3pPr marL="335951" indent="0">
              <a:buNone/>
              <a:defRPr sz="882"/>
            </a:lvl3pPr>
            <a:lvl4pPr marL="503926" indent="0">
              <a:buNone/>
              <a:defRPr sz="735"/>
            </a:lvl4pPr>
            <a:lvl5pPr marL="671901" indent="0">
              <a:buNone/>
              <a:defRPr sz="735"/>
            </a:lvl5pPr>
            <a:lvl6pPr marL="839876" indent="0">
              <a:buNone/>
              <a:defRPr sz="735"/>
            </a:lvl6pPr>
            <a:lvl7pPr marL="1007852" indent="0">
              <a:buNone/>
              <a:defRPr sz="735"/>
            </a:lvl7pPr>
            <a:lvl8pPr marL="1175827" indent="0">
              <a:buNone/>
              <a:defRPr sz="735"/>
            </a:lvl8pPr>
            <a:lvl9pPr marL="1343802" indent="0">
              <a:buNone/>
              <a:defRPr sz="73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3" y="755809"/>
            <a:ext cx="1857572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47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89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134133"/>
            <a:ext cx="1241881" cy="21350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2" y="134133"/>
            <a:ext cx="3653651" cy="21350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2AEA-94D3-F441-81A9-DB067D725D81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67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134133"/>
            <a:ext cx="4967526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670664"/>
            <a:ext cx="4967526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2335076"/>
            <a:ext cx="1295876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662AEA-94D3-F441-81A9-DB067D725D81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2335076"/>
            <a:ext cx="1943814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2335076"/>
            <a:ext cx="1295876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72BBE8-5CBA-D241-8180-250D9F7AC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68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35951" rtl="0" eaLnBrk="1" latinLnBrk="0" hangingPunct="1">
        <a:lnSpc>
          <a:spcPct val="90000"/>
        </a:lnSpc>
        <a:spcBef>
          <a:spcPct val="0"/>
        </a:spcBef>
        <a:buNone/>
        <a:defRPr sz="16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88" indent="-83988" algn="l" defTabSz="335951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029" kern="1200">
          <a:solidFill>
            <a:schemeClr val="tx1"/>
          </a:solidFill>
          <a:latin typeface="+mn-lt"/>
          <a:ea typeface="+mn-ea"/>
          <a:cs typeface="+mn-cs"/>
        </a:defRPr>
      </a:lvl1pPr>
      <a:lvl2pPr marL="25196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2pPr>
      <a:lvl3pPr marL="419938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3pPr>
      <a:lvl4pPr marL="58791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75588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923864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9183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259815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427790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7975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2pPr>
      <a:lvl3pPr marL="33595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3pPr>
      <a:lvl4pPr marL="50392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67190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83987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0785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175827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34380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F4547490-005D-BAF2-1CFB-E7EDA570EDDC}"/>
              </a:ext>
            </a:extLst>
          </p:cNvPr>
          <p:cNvSpPr txBox="1">
            <a:spLocks/>
          </p:cNvSpPr>
          <p:nvPr/>
        </p:nvSpPr>
        <p:spPr>
          <a:xfrm>
            <a:off x="154009" y="876638"/>
            <a:ext cx="515667" cy="163929"/>
          </a:xfrm>
          <a:prstGeom prst="rect">
            <a:avLst/>
          </a:prstGeom>
        </p:spPr>
        <p:txBody>
          <a:bodyPr vert="horz" lIns="38470" tIns="19235" rIns="38470" bIns="19235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ko-KR" sz="1100" b="1" dirty="0">
                <a:latin typeface="Arial" panose="020B0604020202020204" pitchFamily="34" charset="0"/>
                <a:cs typeface="Arial" panose="020B0604020202020204" pitchFamily="34" charset="0"/>
              </a:rPr>
              <a:t>Draft:</a:t>
            </a:r>
            <a:endParaRPr lang="en-US" sz="11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318668-DE75-36F6-E3C8-ADF0200B3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989243"/>
              </p:ext>
            </p:extLst>
          </p:nvPr>
        </p:nvGraphicFramePr>
        <p:xfrm>
          <a:off x="860335" y="607799"/>
          <a:ext cx="554030" cy="64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15">
                  <a:extLst>
                    <a:ext uri="{9D8B030D-6E8A-4147-A177-3AD203B41FA5}">
                      <a16:colId xmlns:a16="http://schemas.microsoft.com/office/drawing/2014/main" val="758589420"/>
                    </a:ext>
                  </a:extLst>
                </a:gridCol>
                <a:gridCol w="277015">
                  <a:extLst>
                    <a:ext uri="{9D8B030D-6E8A-4147-A177-3AD203B41FA5}">
                      <a16:colId xmlns:a16="http://schemas.microsoft.com/office/drawing/2014/main" val="2700647188"/>
                    </a:ext>
                  </a:extLst>
                </a:gridCol>
              </a:tblGrid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54346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744959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238063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349638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7F368D-B985-0111-D50B-347EF6F3437D}"/>
              </a:ext>
            </a:extLst>
          </p:cNvPr>
          <p:cNvCxnSpPr>
            <a:cxnSpLocks/>
          </p:cNvCxnSpPr>
          <p:nvPr/>
        </p:nvCxnSpPr>
        <p:spPr>
          <a:xfrm>
            <a:off x="1643518" y="958603"/>
            <a:ext cx="420476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37E3E35-B9A0-7469-FC4F-B6DAFC04C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884481"/>
              </p:ext>
            </p:extLst>
          </p:nvPr>
        </p:nvGraphicFramePr>
        <p:xfrm>
          <a:off x="3362048" y="536495"/>
          <a:ext cx="554030" cy="80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15">
                  <a:extLst>
                    <a:ext uri="{9D8B030D-6E8A-4147-A177-3AD203B41FA5}">
                      <a16:colId xmlns:a16="http://schemas.microsoft.com/office/drawing/2014/main" val="3551437868"/>
                    </a:ext>
                  </a:extLst>
                </a:gridCol>
                <a:gridCol w="277015">
                  <a:extLst>
                    <a:ext uri="{9D8B030D-6E8A-4147-A177-3AD203B41FA5}">
                      <a16:colId xmlns:a16="http://schemas.microsoft.com/office/drawing/2014/main" val="3214399537"/>
                    </a:ext>
                  </a:extLst>
                </a:gridCol>
              </a:tblGrid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722715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213009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1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1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1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1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1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1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771794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1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1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1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1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1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1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36320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498877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07BCAB-34B8-A72F-76DB-096EE56CED33}"/>
              </a:ext>
            </a:extLst>
          </p:cNvPr>
          <p:cNvCxnSpPr>
            <a:cxnSpLocks/>
          </p:cNvCxnSpPr>
          <p:nvPr/>
        </p:nvCxnSpPr>
        <p:spPr>
          <a:xfrm>
            <a:off x="4018851" y="949143"/>
            <a:ext cx="420476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C73945F-90D2-E65A-8377-F983EDE08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945746"/>
              </p:ext>
            </p:extLst>
          </p:nvPr>
        </p:nvGraphicFramePr>
        <p:xfrm>
          <a:off x="4571017" y="529301"/>
          <a:ext cx="1128104" cy="80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026">
                  <a:extLst>
                    <a:ext uri="{9D8B030D-6E8A-4147-A177-3AD203B41FA5}">
                      <a16:colId xmlns:a16="http://schemas.microsoft.com/office/drawing/2014/main" val="3551437868"/>
                    </a:ext>
                  </a:extLst>
                </a:gridCol>
                <a:gridCol w="282026">
                  <a:extLst>
                    <a:ext uri="{9D8B030D-6E8A-4147-A177-3AD203B41FA5}">
                      <a16:colId xmlns:a16="http://schemas.microsoft.com/office/drawing/2014/main" val="3214399537"/>
                    </a:ext>
                  </a:extLst>
                </a:gridCol>
                <a:gridCol w="282026">
                  <a:extLst>
                    <a:ext uri="{9D8B030D-6E8A-4147-A177-3AD203B41FA5}">
                      <a16:colId xmlns:a16="http://schemas.microsoft.com/office/drawing/2014/main" val="2459791575"/>
                    </a:ext>
                  </a:extLst>
                </a:gridCol>
                <a:gridCol w="282026">
                  <a:extLst>
                    <a:ext uri="{9D8B030D-6E8A-4147-A177-3AD203B41FA5}">
                      <a16:colId xmlns:a16="http://schemas.microsoft.com/office/drawing/2014/main" val="1321290858"/>
                    </a:ext>
                  </a:extLst>
                </a:gridCol>
              </a:tblGrid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722715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213009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771794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36320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498877"/>
                  </a:ext>
                </a:extLst>
              </a:tr>
            </a:tbl>
          </a:graphicData>
        </a:graphic>
      </p:graphicFrame>
      <p:sp>
        <p:nvSpPr>
          <p:cNvPr id="11" name="Title 4">
            <a:extLst>
              <a:ext uri="{FF2B5EF4-FFF2-40B4-BE49-F238E27FC236}">
                <a16:creationId xmlns:a16="http://schemas.microsoft.com/office/drawing/2014/main" id="{55C1BC5B-9630-9186-CBA4-14BBAC1C4CAE}"/>
              </a:ext>
            </a:extLst>
          </p:cNvPr>
          <p:cNvSpPr txBox="1">
            <a:spLocks/>
          </p:cNvSpPr>
          <p:nvPr/>
        </p:nvSpPr>
        <p:spPr>
          <a:xfrm>
            <a:off x="1509915" y="559405"/>
            <a:ext cx="627858" cy="296310"/>
          </a:xfrm>
          <a:prstGeom prst="rect">
            <a:avLst/>
          </a:prstGeom>
          <a:ln>
            <a:noFill/>
          </a:ln>
        </p:spPr>
        <p:txBody>
          <a:bodyPr vert="horz" lIns="38470" tIns="19235" rIns="38470" bIns="19235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Helvetica Neue" panose="02000503000000020004"/>
                <a:ea typeface="Helvetica Neue" panose="02000503000000020004"/>
                <a:cs typeface="Helvetica" charset="0"/>
              </a:defRPr>
            </a:lvl1pPr>
          </a:lstStyle>
          <a:p>
            <a:r>
              <a:rPr lang="en-CA" sz="800" b="0" dirty="0">
                <a:latin typeface="Arial" panose="020B0604020202020204" pitchFamily="34" charset="0"/>
                <a:cs typeface="Arial" panose="020B0604020202020204" pitchFamily="34" charset="0"/>
              </a:rPr>
              <a:t>Select Low </a:t>
            </a:r>
          </a:p>
          <a:p>
            <a:r>
              <a:rPr lang="en-CA" sz="800" b="0" dirty="0">
                <a:latin typeface="Arial" panose="020B0604020202020204" pitchFamily="34" charset="0"/>
                <a:cs typeface="Arial" panose="020B0604020202020204" pitchFamily="34" charset="0"/>
              </a:rPr>
              <a:t>Confidence </a:t>
            </a:r>
          </a:p>
          <a:p>
            <a:r>
              <a:rPr lang="en-CA" sz="800" b="0" dirty="0">
                <a:latin typeface="Arial" panose="020B0604020202020204" pitchFamily="34" charset="0"/>
                <a:cs typeface="Arial" panose="020B0604020202020204" pitchFamily="34" charset="0"/>
              </a:rPr>
              <a:t>Requests</a:t>
            </a:r>
            <a:endParaRPr lang="en-US" sz="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C4D3620-145F-2C55-0F04-3597925BE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46259"/>
              </p:ext>
            </p:extLst>
          </p:nvPr>
        </p:nvGraphicFramePr>
        <p:xfrm>
          <a:off x="2210018" y="867136"/>
          <a:ext cx="554030" cy="160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15">
                  <a:extLst>
                    <a:ext uri="{9D8B030D-6E8A-4147-A177-3AD203B41FA5}">
                      <a16:colId xmlns:a16="http://schemas.microsoft.com/office/drawing/2014/main" val="1475859962"/>
                    </a:ext>
                  </a:extLst>
                </a:gridCol>
                <a:gridCol w="277015">
                  <a:extLst>
                    <a:ext uri="{9D8B030D-6E8A-4147-A177-3AD203B41FA5}">
                      <a16:colId xmlns:a16="http://schemas.microsoft.com/office/drawing/2014/main" val="3053207379"/>
                    </a:ext>
                  </a:extLst>
                </a:gridCol>
              </a:tblGrid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035980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6DAAE2-270E-1DF7-23F0-824054364FFA}"/>
              </a:ext>
            </a:extLst>
          </p:cNvPr>
          <p:cNvCxnSpPr>
            <a:cxnSpLocks/>
          </p:cNvCxnSpPr>
          <p:nvPr/>
        </p:nvCxnSpPr>
        <p:spPr>
          <a:xfrm>
            <a:off x="2859598" y="958603"/>
            <a:ext cx="420476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4">
            <a:extLst>
              <a:ext uri="{FF2B5EF4-FFF2-40B4-BE49-F238E27FC236}">
                <a16:creationId xmlns:a16="http://schemas.microsoft.com/office/drawing/2014/main" id="{AC6E287F-64F0-D5A2-3817-06F85F9DD21E}"/>
              </a:ext>
            </a:extLst>
          </p:cNvPr>
          <p:cNvSpPr txBox="1">
            <a:spLocks/>
          </p:cNvSpPr>
          <p:nvPr/>
        </p:nvSpPr>
        <p:spPr>
          <a:xfrm>
            <a:off x="2734190" y="563897"/>
            <a:ext cx="627858" cy="296310"/>
          </a:xfrm>
          <a:prstGeom prst="rect">
            <a:avLst/>
          </a:prstGeom>
          <a:ln>
            <a:noFill/>
          </a:ln>
        </p:spPr>
        <p:txBody>
          <a:bodyPr vert="horz" lIns="38470" tIns="19235" rIns="38470" bIns="19235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Helvetica Neue" panose="02000503000000020004"/>
                <a:ea typeface="Helvetica Neue" panose="02000503000000020004"/>
                <a:cs typeface="Helvetica" charset="0"/>
              </a:defRPr>
            </a:lvl1pPr>
          </a:lstStyle>
          <a:p>
            <a:r>
              <a:rPr lang="en-CA" sz="800" b="0" dirty="0">
                <a:latin typeface="Arial" panose="020B0604020202020204" pitchFamily="34" charset="0"/>
                <a:cs typeface="Arial" panose="020B0604020202020204" pitchFamily="34" charset="0"/>
              </a:rPr>
              <a:t>Selective</a:t>
            </a:r>
          </a:p>
          <a:p>
            <a:r>
              <a:rPr lang="en-CA" sz="800" b="0" dirty="0">
                <a:latin typeface="Arial" panose="020B0604020202020204" pitchFamily="34" charset="0"/>
                <a:cs typeface="Arial" panose="020B0604020202020204" pitchFamily="34" charset="0"/>
              </a:rPr>
              <a:t>Top-K</a:t>
            </a:r>
            <a:br>
              <a:rPr lang="en-CA" sz="8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800" b="0" dirty="0">
                <a:latin typeface="Arial" panose="020B0604020202020204" pitchFamily="34" charset="0"/>
                <a:cs typeface="Arial" panose="020B0604020202020204" pitchFamily="34" charset="0"/>
              </a:rPr>
              <a:t>Expansion</a:t>
            </a:r>
            <a:endParaRPr lang="en-US" sz="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3418EC61-9A11-3C47-94C4-D559057A34E4}"/>
              </a:ext>
            </a:extLst>
          </p:cNvPr>
          <p:cNvSpPr txBox="1">
            <a:spLocks/>
          </p:cNvSpPr>
          <p:nvPr/>
        </p:nvSpPr>
        <p:spPr>
          <a:xfrm>
            <a:off x="3899767" y="572038"/>
            <a:ext cx="627858" cy="296310"/>
          </a:xfrm>
          <a:prstGeom prst="rect">
            <a:avLst/>
          </a:prstGeom>
          <a:ln>
            <a:noFill/>
          </a:ln>
        </p:spPr>
        <p:txBody>
          <a:bodyPr vert="horz" lIns="38470" tIns="19235" rIns="38470" bIns="19235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Helvetica Neue" panose="02000503000000020004"/>
                <a:ea typeface="Helvetica Neue" panose="02000503000000020004"/>
                <a:cs typeface="Helvetica" charset="0"/>
              </a:defRPr>
            </a:lvl1pPr>
          </a:lstStyle>
          <a:p>
            <a:r>
              <a:rPr lang="en-CA" sz="800" b="0" dirty="0">
                <a:latin typeface="Arial" panose="020B0604020202020204" pitchFamily="34" charset="0"/>
                <a:cs typeface="Arial" panose="020B0604020202020204" pitchFamily="34" charset="0"/>
              </a:rPr>
              <a:t>Finish</a:t>
            </a:r>
            <a:br>
              <a:rPr lang="en-CA" sz="757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757" b="0" dirty="0">
                <a:latin typeface="Arial" panose="020B0604020202020204" pitchFamily="34" charset="0"/>
                <a:cs typeface="Arial" panose="020B0604020202020204" pitchFamily="34" charset="0"/>
              </a:rPr>
              <a:t>Draft</a:t>
            </a:r>
            <a:endParaRPr lang="en-US" sz="757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273D7C-561C-BE2F-B62E-C845CCCB0D61}"/>
              </a:ext>
            </a:extLst>
          </p:cNvPr>
          <p:cNvCxnSpPr>
            <a:cxnSpLocks/>
          </p:cNvCxnSpPr>
          <p:nvPr/>
        </p:nvCxnSpPr>
        <p:spPr>
          <a:xfrm>
            <a:off x="2109937" y="2076787"/>
            <a:ext cx="420476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DE7E007-A33F-EDCE-06A8-C31603224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715140"/>
              </p:ext>
            </p:extLst>
          </p:nvPr>
        </p:nvGraphicFramePr>
        <p:xfrm>
          <a:off x="856683" y="1678275"/>
          <a:ext cx="1129088" cy="80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272">
                  <a:extLst>
                    <a:ext uri="{9D8B030D-6E8A-4147-A177-3AD203B41FA5}">
                      <a16:colId xmlns:a16="http://schemas.microsoft.com/office/drawing/2014/main" val="3551437868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3214399537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2459791575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1321290858"/>
                    </a:ext>
                  </a:extLst>
                </a:gridCol>
              </a:tblGrid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722715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213009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771794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36320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498877"/>
                  </a:ext>
                </a:extLst>
              </a:tr>
            </a:tbl>
          </a:graphicData>
        </a:graphic>
      </p:graphicFrame>
      <p:sp>
        <p:nvSpPr>
          <p:cNvPr id="19" name="Title 4">
            <a:extLst>
              <a:ext uri="{FF2B5EF4-FFF2-40B4-BE49-F238E27FC236}">
                <a16:creationId xmlns:a16="http://schemas.microsoft.com/office/drawing/2014/main" id="{E007DDB3-23C2-0B45-F81F-D214FFEBAC5F}"/>
              </a:ext>
            </a:extLst>
          </p:cNvPr>
          <p:cNvSpPr txBox="1">
            <a:spLocks/>
          </p:cNvSpPr>
          <p:nvPr/>
        </p:nvSpPr>
        <p:spPr>
          <a:xfrm>
            <a:off x="1965387" y="1739853"/>
            <a:ext cx="690734" cy="296310"/>
          </a:xfrm>
          <a:prstGeom prst="rect">
            <a:avLst/>
          </a:prstGeom>
          <a:ln>
            <a:noFill/>
          </a:ln>
        </p:spPr>
        <p:txBody>
          <a:bodyPr vert="horz" lIns="38470" tIns="19235" rIns="38470" bIns="19235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Helvetica Neue" panose="02000503000000020004"/>
                <a:ea typeface="Helvetica Neue" panose="02000503000000020004"/>
                <a:cs typeface="Helvetica" charset="0"/>
              </a:defRPr>
            </a:lvl1pPr>
          </a:lstStyle>
          <a:p>
            <a:r>
              <a:rPr lang="en-CA" sz="800" b="0" dirty="0"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br>
              <a:rPr lang="en-CA" sz="8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800" b="0" dirty="0">
                <a:latin typeface="Arial" panose="020B0604020202020204" pitchFamily="34" charset="0"/>
                <a:cs typeface="Arial" panose="020B0604020202020204" pitchFamily="34" charset="0"/>
              </a:rPr>
              <a:t>Target Model</a:t>
            </a:r>
            <a:endParaRPr lang="en-US" sz="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F7FCF96-9D6B-9AC4-0CA1-8EAFC9768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010776"/>
              </p:ext>
            </p:extLst>
          </p:nvPr>
        </p:nvGraphicFramePr>
        <p:xfrm>
          <a:off x="2640817" y="1681450"/>
          <a:ext cx="1129088" cy="80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272">
                  <a:extLst>
                    <a:ext uri="{9D8B030D-6E8A-4147-A177-3AD203B41FA5}">
                      <a16:colId xmlns:a16="http://schemas.microsoft.com/office/drawing/2014/main" val="3551437868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3214399537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2459791575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1321290858"/>
                    </a:ext>
                  </a:extLst>
                </a:gridCol>
              </a:tblGrid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722715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213009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771794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3-2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36320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D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498877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ADF215E-6C20-83A4-5C8E-97CC65674212}"/>
              </a:ext>
            </a:extLst>
          </p:cNvPr>
          <p:cNvCxnSpPr>
            <a:cxnSpLocks/>
          </p:cNvCxnSpPr>
          <p:nvPr/>
        </p:nvCxnSpPr>
        <p:spPr>
          <a:xfrm>
            <a:off x="4030240" y="2076719"/>
            <a:ext cx="420476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4">
            <a:extLst>
              <a:ext uri="{FF2B5EF4-FFF2-40B4-BE49-F238E27FC236}">
                <a16:creationId xmlns:a16="http://schemas.microsoft.com/office/drawing/2014/main" id="{8B73A6F9-C8E7-CA35-6E18-0AD49E4339B0}"/>
              </a:ext>
            </a:extLst>
          </p:cNvPr>
          <p:cNvSpPr txBox="1">
            <a:spLocks/>
          </p:cNvSpPr>
          <p:nvPr/>
        </p:nvSpPr>
        <p:spPr>
          <a:xfrm>
            <a:off x="3873639" y="1780477"/>
            <a:ext cx="690734" cy="296310"/>
          </a:xfrm>
          <a:prstGeom prst="rect">
            <a:avLst/>
          </a:prstGeom>
          <a:ln>
            <a:noFill/>
          </a:ln>
        </p:spPr>
        <p:txBody>
          <a:bodyPr vert="horz" lIns="38470" tIns="19235" rIns="38470" bIns="19235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Helvetica Neue" panose="02000503000000020004"/>
                <a:ea typeface="Helvetica Neue" panose="02000503000000020004"/>
                <a:cs typeface="Helvetica" charset="0"/>
              </a:defRPr>
            </a:lvl1pPr>
          </a:lstStyle>
          <a:p>
            <a:r>
              <a:rPr lang="en-CA" sz="800" b="0" dirty="0">
                <a:latin typeface="Arial" panose="020B0604020202020204" pitchFamily="34" charset="0"/>
                <a:cs typeface="Arial" panose="020B0604020202020204" pitchFamily="34" charset="0"/>
              </a:rPr>
              <a:t>Reduce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8C0071B-737D-CE8C-9672-470D6F2D7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759471"/>
              </p:ext>
            </p:extLst>
          </p:nvPr>
        </p:nvGraphicFramePr>
        <p:xfrm>
          <a:off x="4571017" y="1749627"/>
          <a:ext cx="1129088" cy="64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272">
                  <a:extLst>
                    <a:ext uri="{9D8B030D-6E8A-4147-A177-3AD203B41FA5}">
                      <a16:colId xmlns:a16="http://schemas.microsoft.com/office/drawing/2014/main" val="3551437868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3214399537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2459791575"/>
                    </a:ext>
                  </a:extLst>
                </a:gridCol>
                <a:gridCol w="282272">
                  <a:extLst>
                    <a:ext uri="{9D8B030D-6E8A-4147-A177-3AD203B41FA5}">
                      <a16:colId xmlns:a16="http://schemas.microsoft.com/office/drawing/2014/main" val="1321290858"/>
                    </a:ext>
                  </a:extLst>
                </a:gridCol>
              </a:tblGrid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722715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213009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36320"/>
                  </a:ext>
                </a:extLst>
              </a:tr>
              <a:tr h="129910"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0" dirty="0">
                          <a:solidFill>
                            <a:srgbClr val="002060"/>
                          </a:solidFill>
                        </a:rPr>
                        <a:t>R</a:t>
                      </a:r>
                      <a:r>
                        <a:rPr lang="en-CA" sz="800" b="0" baseline="-250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800" b="0" baseline="-25000" dirty="0">
                        <a:solidFill>
                          <a:srgbClr val="002060"/>
                        </a:solidFill>
                      </a:endParaRPr>
                    </a:p>
                  </a:txBody>
                  <a:tcPr marL="38470" marR="38470" marT="19235" marB="1923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498877"/>
                  </a:ext>
                </a:extLst>
              </a:tr>
            </a:tbl>
          </a:graphicData>
        </a:graphic>
      </p:graphicFrame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DE6E751-A73C-478E-BE0C-A0B8218C4D7C}"/>
              </a:ext>
            </a:extLst>
          </p:cNvPr>
          <p:cNvSpPr/>
          <p:nvPr/>
        </p:nvSpPr>
        <p:spPr>
          <a:xfrm>
            <a:off x="95251" y="79376"/>
            <a:ext cx="5552871" cy="2985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itle 4">
            <a:extLst>
              <a:ext uri="{FF2B5EF4-FFF2-40B4-BE49-F238E27FC236}">
                <a16:creationId xmlns:a16="http://schemas.microsoft.com/office/drawing/2014/main" id="{9CD63CC7-6B69-D26C-6FEB-1C53B77D6BA4}"/>
              </a:ext>
            </a:extLst>
          </p:cNvPr>
          <p:cNvSpPr txBox="1">
            <a:spLocks/>
          </p:cNvSpPr>
          <p:nvPr/>
        </p:nvSpPr>
        <p:spPr>
          <a:xfrm>
            <a:off x="-7652" y="2028841"/>
            <a:ext cx="856675" cy="163929"/>
          </a:xfrm>
          <a:prstGeom prst="rect">
            <a:avLst/>
          </a:prstGeom>
        </p:spPr>
        <p:txBody>
          <a:bodyPr vert="horz" lIns="38470" tIns="19235" rIns="38470" bIns="19235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ko-KR" sz="1100" b="1" dirty="0">
                <a:latin typeface="Arial" panose="020B0604020202020204" pitchFamily="34" charset="0"/>
                <a:cs typeface="Arial" panose="020B0604020202020204" pitchFamily="34" charset="0"/>
              </a:rPr>
              <a:t>Verification:</a:t>
            </a:r>
            <a:endParaRPr lang="en-US" sz="11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666B041-B30D-5370-F11A-A6568DC24DF4}"/>
              </a:ext>
            </a:extLst>
          </p:cNvPr>
          <p:cNvCxnSpPr>
            <a:cxnSpLocks/>
          </p:cNvCxnSpPr>
          <p:nvPr/>
        </p:nvCxnSpPr>
        <p:spPr>
          <a:xfrm>
            <a:off x="856683" y="1498601"/>
            <a:ext cx="4896417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C6B84FF-70DE-12DC-4AE2-4EBA05F0678F}"/>
              </a:ext>
            </a:extLst>
          </p:cNvPr>
          <p:cNvCxnSpPr>
            <a:cxnSpLocks/>
          </p:cNvCxnSpPr>
          <p:nvPr/>
        </p:nvCxnSpPr>
        <p:spPr>
          <a:xfrm>
            <a:off x="386074" y="1127125"/>
            <a:ext cx="0" cy="801507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20744E5-4F04-6F0B-DF29-5FE40506B2CC}"/>
              </a:ext>
            </a:extLst>
          </p:cNvPr>
          <p:cNvSpPr/>
          <p:nvPr/>
        </p:nvSpPr>
        <p:spPr>
          <a:xfrm>
            <a:off x="206580" y="150892"/>
            <a:ext cx="321465" cy="152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itle 4">
            <a:extLst>
              <a:ext uri="{FF2B5EF4-FFF2-40B4-BE49-F238E27FC236}">
                <a16:creationId xmlns:a16="http://schemas.microsoft.com/office/drawing/2014/main" id="{42B911F2-1B01-0EE4-B9B0-21927C78B1AE}"/>
              </a:ext>
            </a:extLst>
          </p:cNvPr>
          <p:cNvSpPr txBox="1">
            <a:spLocks/>
          </p:cNvSpPr>
          <p:nvPr/>
        </p:nvSpPr>
        <p:spPr>
          <a:xfrm>
            <a:off x="506572" y="161839"/>
            <a:ext cx="515667" cy="152399"/>
          </a:xfrm>
          <a:prstGeom prst="rect">
            <a:avLst/>
          </a:prstGeom>
        </p:spPr>
        <p:txBody>
          <a:bodyPr vert="horz" lIns="38470" tIns="19235" rIns="38470" bIns="19235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endParaRPr lang="en-US" sz="9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619F756-FFAB-DA82-E49D-AFB8190F5BA4}"/>
              </a:ext>
            </a:extLst>
          </p:cNvPr>
          <p:cNvSpPr/>
          <p:nvPr/>
        </p:nvSpPr>
        <p:spPr>
          <a:xfrm>
            <a:off x="1855508" y="153928"/>
            <a:ext cx="321465" cy="152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itle 4">
            <a:extLst>
              <a:ext uri="{FF2B5EF4-FFF2-40B4-BE49-F238E27FC236}">
                <a16:creationId xmlns:a16="http://schemas.microsoft.com/office/drawing/2014/main" id="{14B3F7A2-421C-7D64-E519-DDFE0D74C061}"/>
              </a:ext>
            </a:extLst>
          </p:cNvPr>
          <p:cNvSpPr txBox="1">
            <a:spLocks/>
          </p:cNvSpPr>
          <p:nvPr/>
        </p:nvSpPr>
        <p:spPr>
          <a:xfrm>
            <a:off x="2197553" y="102740"/>
            <a:ext cx="611995" cy="265052"/>
          </a:xfrm>
          <a:prstGeom prst="rect">
            <a:avLst/>
          </a:prstGeom>
        </p:spPr>
        <p:txBody>
          <a:bodyPr vert="horz" lIns="38470" tIns="19235" rIns="38470" bIns="19235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Expanded</a:t>
            </a:r>
            <a:br>
              <a:rPr lang="en-CA" altLang="ko-KR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581E58D-2463-4552-E564-385EFBBF2957}"/>
              </a:ext>
            </a:extLst>
          </p:cNvPr>
          <p:cNvSpPr/>
          <p:nvPr/>
        </p:nvSpPr>
        <p:spPr>
          <a:xfrm>
            <a:off x="2851400" y="153928"/>
            <a:ext cx="321465" cy="15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35E7536-A976-0A2E-AD0B-D06C58DF84F3}"/>
              </a:ext>
            </a:extLst>
          </p:cNvPr>
          <p:cNvSpPr/>
          <p:nvPr/>
        </p:nvSpPr>
        <p:spPr>
          <a:xfrm>
            <a:off x="3851630" y="154067"/>
            <a:ext cx="321465" cy="152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itle 4">
            <a:extLst>
              <a:ext uri="{FF2B5EF4-FFF2-40B4-BE49-F238E27FC236}">
                <a16:creationId xmlns:a16="http://schemas.microsoft.com/office/drawing/2014/main" id="{3B93AC49-F56C-7803-7167-AB637FD23EDC}"/>
              </a:ext>
            </a:extLst>
          </p:cNvPr>
          <p:cNvSpPr txBox="1">
            <a:spLocks/>
          </p:cNvSpPr>
          <p:nvPr/>
        </p:nvSpPr>
        <p:spPr>
          <a:xfrm>
            <a:off x="4182617" y="102744"/>
            <a:ext cx="586556" cy="265051"/>
          </a:xfrm>
          <a:prstGeom prst="rect">
            <a:avLst/>
          </a:prstGeom>
        </p:spPr>
        <p:txBody>
          <a:bodyPr vert="horz" lIns="38470" tIns="19235" rIns="38470" bIns="19235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Rejected</a:t>
            </a:r>
            <a:br>
              <a:rPr lang="en-CA" altLang="ko-KR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Token</a:t>
            </a:r>
            <a:endParaRPr lang="en-US" sz="9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997FD5F-FC01-83F5-1C15-93DA12BC3415}"/>
              </a:ext>
            </a:extLst>
          </p:cNvPr>
          <p:cNvSpPr/>
          <p:nvPr/>
        </p:nvSpPr>
        <p:spPr>
          <a:xfrm>
            <a:off x="1026754" y="147717"/>
            <a:ext cx="321465" cy="152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itle 4">
            <a:extLst>
              <a:ext uri="{FF2B5EF4-FFF2-40B4-BE49-F238E27FC236}">
                <a16:creationId xmlns:a16="http://schemas.microsoft.com/office/drawing/2014/main" id="{D2434340-4423-18EC-99F7-E9D4A23C3789}"/>
              </a:ext>
            </a:extLst>
          </p:cNvPr>
          <p:cNvSpPr txBox="1">
            <a:spLocks/>
          </p:cNvSpPr>
          <p:nvPr/>
        </p:nvSpPr>
        <p:spPr>
          <a:xfrm>
            <a:off x="3185324" y="109090"/>
            <a:ext cx="611995" cy="265052"/>
          </a:xfrm>
          <a:prstGeom prst="rect">
            <a:avLst/>
          </a:prstGeom>
        </p:spPr>
        <p:txBody>
          <a:bodyPr vert="horz" lIns="38470" tIns="19235" rIns="38470" bIns="19235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Accepted</a:t>
            </a:r>
            <a:br>
              <a:rPr lang="en-CA" altLang="ko-KR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Token</a:t>
            </a:r>
          </a:p>
        </p:txBody>
      </p:sp>
      <p:sp>
        <p:nvSpPr>
          <p:cNvPr id="48" name="Title 4">
            <a:extLst>
              <a:ext uri="{FF2B5EF4-FFF2-40B4-BE49-F238E27FC236}">
                <a16:creationId xmlns:a16="http://schemas.microsoft.com/office/drawing/2014/main" id="{02FE132F-5102-EB80-9D1C-9CF49012BE95}"/>
              </a:ext>
            </a:extLst>
          </p:cNvPr>
          <p:cNvSpPr txBox="1">
            <a:spLocks/>
          </p:cNvSpPr>
          <p:nvPr/>
        </p:nvSpPr>
        <p:spPr>
          <a:xfrm>
            <a:off x="1267162" y="105915"/>
            <a:ext cx="611995" cy="265052"/>
          </a:xfrm>
          <a:prstGeom prst="rect">
            <a:avLst/>
          </a:prstGeom>
        </p:spPr>
        <p:txBody>
          <a:bodyPr vert="horz" lIns="38470" tIns="19235" rIns="38470" bIns="19235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Draft</a:t>
            </a:r>
            <a:br>
              <a:rPr lang="en-CA" altLang="ko-KR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Token</a:t>
            </a:r>
          </a:p>
        </p:txBody>
      </p:sp>
      <p:sp>
        <p:nvSpPr>
          <p:cNvPr id="54" name="Title 4">
            <a:extLst>
              <a:ext uri="{FF2B5EF4-FFF2-40B4-BE49-F238E27FC236}">
                <a16:creationId xmlns:a16="http://schemas.microsoft.com/office/drawing/2014/main" id="{A8456DC5-C4A2-419B-C168-BE028A6D6D09}"/>
              </a:ext>
            </a:extLst>
          </p:cNvPr>
          <p:cNvSpPr txBox="1">
            <a:spLocks/>
          </p:cNvSpPr>
          <p:nvPr/>
        </p:nvSpPr>
        <p:spPr>
          <a:xfrm>
            <a:off x="3709437" y="2158037"/>
            <a:ext cx="338683" cy="150235"/>
          </a:xfrm>
          <a:prstGeom prst="rect">
            <a:avLst/>
          </a:prstGeom>
          <a:ln>
            <a:noFill/>
          </a:ln>
        </p:spPr>
        <p:txBody>
          <a:bodyPr vert="horz" lIns="38470" tIns="19235" rIns="38470" bIns="19235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Helvetica Neue" panose="02000503000000020004"/>
                <a:ea typeface="Helvetica Neue" panose="02000503000000020004"/>
                <a:cs typeface="Helvetica" charset="0"/>
              </a:defRPr>
            </a:lvl1pPr>
          </a:lstStyle>
          <a:p>
            <a:r>
              <a:rPr lang="en-CA" sz="1600" b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CA" sz="1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itle 4">
            <a:extLst>
              <a:ext uri="{FF2B5EF4-FFF2-40B4-BE49-F238E27FC236}">
                <a16:creationId xmlns:a16="http://schemas.microsoft.com/office/drawing/2014/main" id="{CC022525-7A26-68C5-960F-4482ED0E3249}"/>
              </a:ext>
            </a:extLst>
          </p:cNvPr>
          <p:cNvSpPr txBox="1">
            <a:spLocks/>
          </p:cNvSpPr>
          <p:nvPr/>
        </p:nvSpPr>
        <p:spPr>
          <a:xfrm>
            <a:off x="3693628" y="2017363"/>
            <a:ext cx="338683" cy="123428"/>
          </a:xfrm>
          <a:prstGeom prst="rect">
            <a:avLst/>
          </a:prstGeom>
          <a:ln>
            <a:noFill/>
          </a:ln>
        </p:spPr>
        <p:txBody>
          <a:bodyPr vert="horz" lIns="38470" tIns="19235" rIns="38470" bIns="19235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Helvetica Neue" panose="02000503000000020004"/>
                <a:ea typeface="Helvetica Neue" panose="02000503000000020004"/>
                <a:cs typeface="Helvetica" charset="0"/>
              </a:defRPr>
            </a:lvl1pPr>
          </a:lstStyle>
          <a:p>
            <a:r>
              <a:rPr lang="en-CA" sz="12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✗</a:t>
            </a:r>
            <a:endParaRPr lang="en-CA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ECC6CAD-CF4B-904F-7D47-B5E78948AE75}"/>
              </a:ext>
            </a:extLst>
          </p:cNvPr>
          <p:cNvSpPr/>
          <p:nvPr/>
        </p:nvSpPr>
        <p:spPr>
          <a:xfrm>
            <a:off x="4755978" y="153640"/>
            <a:ext cx="321465" cy="152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itle 4">
            <a:extLst>
              <a:ext uri="{FF2B5EF4-FFF2-40B4-BE49-F238E27FC236}">
                <a16:creationId xmlns:a16="http://schemas.microsoft.com/office/drawing/2014/main" id="{EE55700A-A3E7-5E8C-14DA-277BC589A02C}"/>
              </a:ext>
            </a:extLst>
          </p:cNvPr>
          <p:cNvSpPr txBox="1">
            <a:spLocks/>
          </p:cNvSpPr>
          <p:nvPr/>
        </p:nvSpPr>
        <p:spPr>
          <a:xfrm>
            <a:off x="5061565" y="102317"/>
            <a:ext cx="586556" cy="265051"/>
          </a:xfrm>
          <a:prstGeom prst="rect">
            <a:avLst/>
          </a:prstGeom>
        </p:spPr>
        <p:txBody>
          <a:bodyPr vert="horz" lIns="38470" tIns="19235" rIns="38470" bIns="19235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Recovery</a:t>
            </a:r>
            <a:br>
              <a:rPr lang="en-CA" altLang="ko-KR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Token</a:t>
            </a:r>
            <a:endParaRPr lang="en-US" sz="9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318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</TotalTime>
  <Words>134</Words>
  <Application>Microsoft Macintosh PowerPoint</Application>
  <PresentationFormat>Custom</PresentationFormat>
  <Paragraphs>114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junsuk87@student.ubc.ca</dc:creator>
  <cp:lastModifiedBy>junsuk87@student.ubc.ca</cp:lastModifiedBy>
  <cp:revision>26</cp:revision>
  <dcterms:created xsi:type="dcterms:W3CDTF">2026-04-15T13:00:02Z</dcterms:created>
  <dcterms:modified xsi:type="dcterms:W3CDTF">2026-04-29T06:25:46Z</dcterms:modified>
</cp:coreProperties>
</file>